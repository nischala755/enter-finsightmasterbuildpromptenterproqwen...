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FinSight asks what financial problem is forming, why it is happening, and what the team should do before it becomes expensive. Northstar Commerce is a fictional seeded demonstration. Overview combines current cash, a deterministic forecast, health and recoverable leakage. Production note: this is an editable reconstruction of selected existing UI modules, not a screenshot. The running preview was unreachable. Palette and typography were read from the application. At-risk capital was omitted because the brief and implementation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dashboard can show a healthy-looking balance without explaining the risk forming underneath. Aging receivables reduce expected inflows. The seeded forecast projects a breach of the ₹1.25 Cr minimum-safe floor in 52 days. That is a warning horizon, not a realized loss. The day-90 balance can recover after an earlier trough; FinSight surfaces that interim breach rather than relying only on the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FinSight connects detection to action. Follow receivables aging through reduced inflows, falling reserves, accounts-payable exposure and liquidity risk. The application presents evidence at the relevant nodes and lets the user create a workflow. This is a simplified reconstruction of Trace Cause; no transaction IDs, probabilities or confidence scores have been fabricated.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Financial Risk Graph connects transactions to financial consequences. The Crisis Simulator asks what changes if revenue drops 15 percent or another operating driver moves. Baseline, scenario and recommended-intervention forecasts are computed deterministically, with strategies ranked by the engine. Fifteen percent is a hypothetical input, not an observed result. No invented scenario balance, savings claim or decorative chart is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domain engine calculates; Qwen explains supplied metrics and evidence. Qwen is instructed not to invent numbers, which is not a guarantee of error-free prose. Deterministic financial outputs remain authoritative. EnterPro is currently a stateful mock adapter. Workflow, approval, leak-recovery and audit state are database-backed; this is not a connected external orchestration service or production authorization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FinSight identifies ₹38.4 lakh in annualised recoverable leakage and separately projects a cash-threshold breach in 52 days. Identified leakage is not realized savings; the warning is not proof of an averted breach. A flagged risk can proceed through the demonstrated approval and audit flow. FinSight does not just report financial problems: it finds them before they become expensive and helps the team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283464" cy="283464"/>
          </a:xfrm>
          <a:prstGeom prst="rect">
            <a:avLst/>
          </a:prstGeom>
          <a:solidFill>
            <a:srgbClr val="231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01421"/>
            <a:ext cx="2834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6F2"/>
                </a:solidFill>
                <a:latin typeface="Inter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381304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1E1A"/>
                </a:solidFill>
                <a:latin typeface="Inter"/>
              </a:rPr>
              <a:t>FinSight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402336"/>
            <a:ext cx="0" cy="246888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68880" y="4343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645D"/>
                </a:solidFill>
                <a:latin typeface="Inter"/>
              </a:rPr>
              <a:t>EARLY WARNING → INTERVENTION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868680"/>
            <a:ext cx="11000232" cy="0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469380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F645D"/>
                </a:solidFill>
                <a:latin typeface="Inter"/>
              </a:rPr>
              <a:t>Northstar Commerce · fictional seeded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45109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45D"/>
                </a:solidFill>
                <a:latin typeface="JetBrains Mono"/>
              </a:rPr>
              <a:t>01 /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271016"/>
            <a:ext cx="42976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900" b="1">
                <a:solidFill>
                  <a:srgbClr val="231E1A"/>
                </a:solidFill>
                <a:latin typeface="Inter"/>
              </a:rPr>
              <a:t>FinSight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12848"/>
            <a:ext cx="4224528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31E1A"/>
                </a:solidFill>
                <a:latin typeface="Inter"/>
              </a:rPr>
              <a:t>Autonomous Financial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31E1A"/>
                </a:solidFill>
                <a:latin typeface="Inter"/>
              </a:rPr>
              <a:t>Early-Warning &amp;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31E1A"/>
                </a:solidFill>
                <a:latin typeface="Inter"/>
              </a:rPr>
              <a:t>Intervention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922776"/>
            <a:ext cx="420624" cy="411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233672"/>
            <a:ext cx="4242816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645D"/>
                </a:solidFill>
                <a:latin typeface="Inter"/>
              </a:rPr>
              <a:t>What financial problem is forming,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645D"/>
                </a:solidFill>
                <a:latin typeface="Inter"/>
              </a:rPr>
              <a:t>why is it happening, and what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645D"/>
                </a:solidFill>
                <a:latin typeface="Inter"/>
              </a:rPr>
              <a:t>should we do before 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645D"/>
                </a:solidFill>
                <a:latin typeface="Inter"/>
              </a:rPr>
              <a:t>becomes expensive?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389888"/>
            <a:ext cx="6473952" cy="4471416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389888"/>
            <a:ext cx="1298448" cy="4471416"/>
          </a:xfrm>
          <a:prstGeom prst="rect">
            <a:avLst/>
          </a:prstGeom>
          <a:solidFill>
            <a:srgbClr val="1F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6944" y="1600200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FECE6"/>
                </a:solidFill>
                <a:latin typeface="Inter"/>
              </a:rPr>
              <a:t>FinSight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20116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FECE6"/>
                </a:solidFill>
                <a:latin typeface="Inter"/>
              </a:rPr>
              <a:t>NORTHSTAR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FECE6"/>
                </a:solidFill>
                <a:latin typeface="Inter"/>
              </a:rPr>
              <a:t>COMMERCE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9" y="2601468"/>
            <a:ext cx="1115568" cy="233172"/>
          </a:xfrm>
          <a:prstGeom prst="rect">
            <a:avLst/>
          </a:prstGeom>
          <a:solidFill>
            <a:srgbClr val="3D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1" y="265176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EFECE6"/>
                </a:solidFill>
                <a:latin typeface="Inter"/>
              </a:rPr>
              <a:t>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89407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EFECE6"/>
                </a:solidFill>
                <a:latin typeface="Inter"/>
              </a:rPr>
              <a:t>Risk Radar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3136391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EFECE6"/>
                </a:solidFill>
                <a:latin typeface="Inter"/>
              </a:rPr>
              <a:t>Money Leaks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1" y="337870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EFECE6"/>
                </a:solidFill>
                <a:latin typeface="Inter"/>
              </a:rPr>
              <a:t>Cash Forecast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1" y="362102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EFECE6"/>
                </a:solidFill>
                <a:latin typeface="Inter"/>
              </a:rPr>
              <a:t>Simulator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863339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EFECE6"/>
                </a:solidFill>
                <a:latin typeface="Inter"/>
              </a:rPr>
              <a:t>Transactions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1" y="410565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EFECE6"/>
                </a:solidFill>
                <a:latin typeface="Inter"/>
              </a:rPr>
              <a:t>Vendors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1" y="434797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EFECE6"/>
                </a:solidFill>
                <a:latin typeface="Inter"/>
              </a:rPr>
              <a:t>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45902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EFECE6"/>
                </a:solidFill>
                <a:latin typeface="Inter"/>
              </a:rPr>
              <a:t>AI Analyst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1" y="483260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EFECE6"/>
                </a:solidFill>
                <a:latin typeface="Inter"/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5" y="1609344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1E1A"/>
                </a:solidFill>
                <a:latin typeface="Inter"/>
              </a:rPr>
              <a:t>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0255" y="201168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45D"/>
                </a:solidFill>
                <a:latin typeface="Inter"/>
              </a:rPr>
              <a:t>Northstar Commerce · INR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0255" y="2441448"/>
            <a:ext cx="2176272" cy="1088136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59" y="258775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645D"/>
                </a:solidFill>
                <a:latin typeface="Inter"/>
              </a:rPr>
              <a:t>CURRENT CASH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2935224"/>
            <a:ext cx="19202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31E1A"/>
                </a:solidFill>
                <a:latin typeface="Inter"/>
              </a:rPr>
              <a:t>₹4.82 Cr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2441448"/>
            <a:ext cx="2176272" cy="1088136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53144" y="258775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645D"/>
                </a:solidFill>
                <a:latin typeface="Inter"/>
              </a:rPr>
              <a:t>90-DAY FORECAST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4" y="2935224"/>
            <a:ext cx="19202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B1751B"/>
                </a:solidFill>
                <a:latin typeface="Inter"/>
              </a:rPr>
              <a:t>₹2.17 Cr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0255" y="3703320"/>
            <a:ext cx="2176272" cy="1527048"/>
          </a:xfrm>
          <a:prstGeom prst="rect">
            <a:avLst/>
          </a:prstGeom>
          <a:solidFill>
            <a:srgbClr val="1F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75703" y="3877056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FECE6"/>
                </a:solidFill>
                <a:latin typeface="Inter"/>
              </a:rPr>
              <a:t>FINANCIAL HEALTH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75703" y="4197096"/>
            <a:ext cx="960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FECE6"/>
                </a:solidFill>
                <a:latin typeface="Inter"/>
              </a:rPr>
              <a:t>78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507992"/>
            <a:ext cx="81381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FECE6"/>
                </a:solidFill>
                <a:latin typeface="JetBrains Mono"/>
              </a:rPr>
              <a:t>/100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75703" y="4992624"/>
            <a:ext cx="1856231" cy="41148"/>
          </a:xfrm>
          <a:prstGeom prst="rect">
            <a:avLst/>
          </a:prstGeom>
          <a:solidFill>
            <a:srgbClr val="3D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75703" y="4992624"/>
            <a:ext cx="1447860" cy="41148"/>
          </a:xfrm>
          <a:prstGeom prst="rect">
            <a:avLst/>
          </a:prstGeom>
          <a:solidFill>
            <a:srgbClr val="2E6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06840" y="3703320"/>
            <a:ext cx="2176272" cy="1527048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53144" y="3877056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645D"/>
                </a:solidFill>
                <a:latin typeface="Inter"/>
              </a:rPr>
              <a:t>RECOVERABLE LEAKAGE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4288536"/>
            <a:ext cx="19019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E664C"/>
                </a:solidFill>
                <a:latin typeface="Inter"/>
              </a:rPr>
              <a:t>₹38.4L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53144" y="488289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45D"/>
                </a:solidFill>
                <a:latin typeface="Inter"/>
              </a:rPr>
              <a:t>Annualised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784" y="5998464"/>
            <a:ext cx="64739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F645D"/>
                </a:solidFill>
                <a:latin typeface="Inter"/>
              </a:rPr>
              <a:t>Selected Overview modules · editable UI mockup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283464" cy="283464"/>
          </a:xfrm>
          <a:prstGeom prst="rect">
            <a:avLst/>
          </a:prstGeom>
          <a:solidFill>
            <a:srgbClr val="231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01421"/>
            <a:ext cx="2834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6F2"/>
                </a:solidFill>
                <a:latin typeface="Inter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381304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1E1A"/>
                </a:solidFill>
                <a:latin typeface="Inter"/>
              </a:rPr>
              <a:t>FinSight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402336"/>
            <a:ext cx="0" cy="246888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68880" y="4343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645D"/>
                </a:solidFill>
                <a:latin typeface="Inter"/>
              </a:rPr>
              <a:t>THE PROBLEM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868680"/>
            <a:ext cx="11000232" cy="0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469380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F645D"/>
                </a:solidFill>
                <a:latin typeface="Inter"/>
              </a:rPr>
              <a:t>Northstar Commerce · fictional seeded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45109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45D"/>
                </a:solidFill>
                <a:latin typeface="JetBrains Mono"/>
              </a:rPr>
              <a:t>02 /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31E1A"/>
                </a:solidFill>
                <a:latin typeface="Inter"/>
              </a:rPr>
              <a:t>Finance teams see problems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31E1A"/>
                </a:solidFill>
                <a:latin typeface="Inter"/>
              </a:rPr>
              <a:t>after they become expensive.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871216"/>
            <a:ext cx="54864" cy="2377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798064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1E1A"/>
                </a:solidFill>
                <a:latin typeface="Inter"/>
              </a:rPr>
              <a:t>Reactive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200400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F645D"/>
                </a:solidFill>
                <a:latin typeface="Inter"/>
              </a:rPr>
              <a:t>Report the symptom after the fact.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803904"/>
            <a:ext cx="54864" cy="2377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730752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1E1A"/>
                </a:solidFill>
                <a:latin typeface="Inter"/>
              </a:rPr>
              <a:t>No causal 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133088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F645D"/>
                </a:solidFill>
                <a:latin typeface="Inter"/>
              </a:rPr>
              <a:t>An anomaly is not a diagnosis.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4736592"/>
            <a:ext cx="54864" cy="2377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663440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1E1A"/>
                </a:solidFill>
                <a:latin typeface="Inter"/>
              </a:rPr>
              <a:t>No path to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065776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F645D"/>
                </a:solidFill>
                <a:latin typeface="Inter"/>
              </a:rPr>
              <a:t>An alert is not an intervention.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65976" y="2734056"/>
            <a:ext cx="4919472" cy="3118104"/>
          </a:xfrm>
          <a:prstGeom prst="rect">
            <a:avLst/>
          </a:prstGeom>
          <a:solidFill>
            <a:srgbClr val="1F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999232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FECE6"/>
                </a:solidFill>
                <a:latin typeface="Inter"/>
              </a:rPr>
              <a:t>NORTHSTAR COMMERCE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3374136"/>
            <a:ext cx="2615184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800" b="1">
                <a:solidFill>
                  <a:srgbClr val="EFECE6"/>
                </a:solidFill>
                <a:latin typeface="Inter"/>
              </a:rPr>
              <a:t>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4096512"/>
            <a:ext cx="168249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EFECE6"/>
                </a:solidFill>
                <a:latin typeface="Inter"/>
              </a:rPr>
              <a:t>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4882896"/>
            <a:ext cx="4251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FECE6"/>
                </a:solidFill>
                <a:latin typeface="Inter"/>
              </a:rPr>
              <a:t>until a projected cash-threshold breach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4" y="5477256"/>
            <a:ext cx="42702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FECE6"/>
                </a:solidFill>
                <a:latin typeface="Inter"/>
              </a:rPr>
              <a:t>Receivables aging · safe floor ₹1.25 Cr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283464" cy="283464"/>
          </a:xfrm>
          <a:prstGeom prst="rect">
            <a:avLst/>
          </a:prstGeom>
          <a:solidFill>
            <a:srgbClr val="231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01421"/>
            <a:ext cx="2834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6F2"/>
                </a:solidFill>
                <a:latin typeface="Inter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381304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1E1A"/>
                </a:solidFill>
                <a:latin typeface="Inter"/>
              </a:rPr>
              <a:t>FinSight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402336"/>
            <a:ext cx="0" cy="246888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68880" y="4343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645D"/>
                </a:solidFill>
                <a:latin typeface="Inter"/>
              </a:rPr>
              <a:t>HOW FINSIGHT SOLVES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868680"/>
            <a:ext cx="11000232" cy="0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469380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F645D"/>
                </a:solidFill>
                <a:latin typeface="Inter"/>
              </a:rPr>
              <a:t>Northstar Commerce · fictional seeded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45109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45D"/>
                </a:solidFill>
                <a:latin typeface="JetBrains Mono"/>
              </a:rPr>
              <a:t>03 /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298448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31E1A"/>
                </a:solidFill>
                <a:latin typeface="Inter"/>
              </a:rPr>
              <a:t>From a weak signal to a traceable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331720"/>
            <a:ext cx="1600200" cy="594360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10028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E1A"/>
                </a:solidFill>
                <a:latin typeface="Inter"/>
              </a:rPr>
              <a:t>Detect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31136" y="2633472"/>
            <a:ext cx="192024" cy="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68296" y="2587752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68296" y="2633472"/>
            <a:ext cx="54864" cy="45719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473452" y="2331720"/>
            <a:ext cx="1600200" cy="594360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73452" y="2510028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E1A"/>
                </a:solidFill>
                <a:latin typeface="Inter"/>
              </a:rPr>
              <a:t>Investigate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0228" y="2633472"/>
            <a:ext cx="192024" cy="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47388" y="2587752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247388" y="2633472"/>
            <a:ext cx="54864" cy="45719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352544" y="2331720"/>
            <a:ext cx="1600200" cy="594360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2510028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E1A"/>
                </a:solidFill>
                <a:latin typeface="Inter"/>
              </a:rPr>
              <a:t>Explain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2633472"/>
            <a:ext cx="192024" cy="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26480" y="2587752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26480" y="2633472"/>
            <a:ext cx="54864" cy="45719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31636" y="2331720"/>
            <a:ext cx="1600200" cy="594360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1636" y="2510028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E1A"/>
                </a:solidFill>
                <a:latin typeface="Inter"/>
              </a:rPr>
              <a:t>Predict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68412" y="2633472"/>
            <a:ext cx="192024" cy="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05572" y="2587752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005572" y="2633472"/>
            <a:ext cx="54864" cy="45719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110728" y="2331720"/>
            <a:ext cx="1600200" cy="594360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0728" y="2510028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E1A"/>
                </a:solidFill>
                <a:latin typeface="Inter"/>
              </a:rPr>
              <a:t>Simulate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747504" y="2633472"/>
            <a:ext cx="192024" cy="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884664" y="2587752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884664" y="2633472"/>
            <a:ext cx="54864" cy="45719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989820" y="2331720"/>
            <a:ext cx="1600200" cy="594360"/>
          </a:xfrm>
          <a:prstGeom prst="rect">
            <a:avLst/>
          </a:prstGeom>
          <a:solidFill>
            <a:srgbClr val="1F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89820" y="2510028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ECE6"/>
                </a:solidFill>
                <a:latin typeface="Inter"/>
              </a:rPr>
              <a:t>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410712"/>
            <a:ext cx="11000232" cy="2203704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" y="363931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5F"/>
                </a:solidFill>
                <a:latin typeface="Inter"/>
              </a:rPr>
              <a:t>RISK RADAR / TRACE CAUSE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" y="4169663"/>
            <a:ext cx="1856231" cy="832104"/>
          </a:xfrm>
          <a:prstGeom prst="rect">
            <a:avLst/>
          </a:prstGeom>
          <a:solidFill>
            <a:srgbClr val="F7F6F2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4357116"/>
            <a:ext cx="163677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1E1A"/>
                </a:solidFill>
                <a:latin typeface="Inter"/>
              </a:rPr>
              <a:t>Receivables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1E1A"/>
                </a:solidFill>
                <a:latin typeface="Inter"/>
              </a:rPr>
              <a:t>aging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752344" y="4594860"/>
            <a:ext cx="192024" cy="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89504" y="4549140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889504" y="4594860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99232" y="4169663"/>
            <a:ext cx="1856231" cy="832104"/>
          </a:xfrm>
          <a:prstGeom prst="rect">
            <a:avLst/>
          </a:prstGeom>
          <a:solidFill>
            <a:srgbClr val="F7F6F2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0" y="4357116"/>
            <a:ext cx="163677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1E1A"/>
                </a:solidFill>
                <a:latin typeface="Inter"/>
              </a:rPr>
              <a:t>Cash inflow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1E1A"/>
                </a:solidFill>
                <a:latin typeface="Inter"/>
              </a:rPr>
              <a:t>reduction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901184" y="4594860"/>
            <a:ext cx="192024" cy="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038344" y="4549140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38344" y="4594860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148072" y="4169663"/>
            <a:ext cx="1856231" cy="832104"/>
          </a:xfrm>
          <a:prstGeom prst="rect">
            <a:avLst/>
          </a:prstGeom>
          <a:solidFill>
            <a:srgbClr val="F7F6F2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7800" y="4357116"/>
            <a:ext cx="163677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1E1A"/>
                </a:solidFill>
                <a:latin typeface="Inter"/>
              </a:rPr>
              <a:t>Cash reserve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1E1A"/>
                </a:solidFill>
                <a:latin typeface="Inter"/>
              </a:rPr>
              <a:t>decline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050024" y="4594860"/>
            <a:ext cx="192024" cy="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187184" y="4549140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187184" y="4594860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296912" y="4169663"/>
            <a:ext cx="1856231" cy="832104"/>
          </a:xfrm>
          <a:prstGeom prst="rect">
            <a:avLst/>
          </a:prstGeom>
          <a:solidFill>
            <a:srgbClr val="F7F6F2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0" y="4357116"/>
            <a:ext cx="163677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1E1A"/>
                </a:solidFill>
                <a:latin typeface="Inter"/>
              </a:rPr>
              <a:t>AP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1E1A"/>
                </a:solidFill>
                <a:latin typeface="Inter"/>
              </a:rPr>
              <a:t>exposure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198864" y="4594860"/>
            <a:ext cx="192024" cy="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336024" y="4549140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336024" y="4594860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445752" y="4169663"/>
            <a:ext cx="1856231" cy="832104"/>
          </a:xfrm>
          <a:prstGeom prst="rect">
            <a:avLst/>
          </a:prstGeom>
          <a:solidFill>
            <a:srgbClr val="1F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55480" y="4357116"/>
            <a:ext cx="163677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FECE6"/>
                </a:solidFill>
                <a:latin typeface="Inter"/>
              </a:rPr>
              <a:t>Liquidity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FECE6"/>
                </a:solidFill>
                <a:latin typeface="Inter"/>
              </a:rPr>
              <a:t>risk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5221224"/>
            <a:ext cx="103784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645D"/>
                </a:solidFill>
                <a:latin typeface="Inter"/>
              </a:rPr>
              <a:t>Trace the driver. Inspect the evidence. Choose the response.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587044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45D"/>
                </a:solidFill>
                <a:latin typeface="Inter"/>
              </a:rPr>
              <a:t>Causal-chain UI excerpt · editable reconstruction, not a live screenshot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283464" cy="283464"/>
          </a:xfrm>
          <a:prstGeom prst="rect">
            <a:avLst/>
          </a:prstGeom>
          <a:solidFill>
            <a:srgbClr val="231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01421"/>
            <a:ext cx="2834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6F2"/>
                </a:solidFill>
                <a:latin typeface="Inter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381304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1E1A"/>
                </a:solidFill>
                <a:latin typeface="Inter"/>
              </a:rPr>
              <a:t>FinSight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402336"/>
            <a:ext cx="0" cy="246888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68880" y="4343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645D"/>
                </a:solidFill>
                <a:latin typeface="Inter"/>
              </a:rPr>
              <a:t>TWO SIGNATURE CAPABILITIES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868680"/>
            <a:ext cx="11000232" cy="0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469380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F645D"/>
                </a:solidFill>
                <a:latin typeface="Inter"/>
              </a:rPr>
              <a:t>Northstar Commerce · fictional seeded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45109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45D"/>
                </a:solidFill>
                <a:latin typeface="JetBrains Mono"/>
              </a:rPr>
              <a:t>04 /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298448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31E1A"/>
                </a:solidFill>
                <a:latin typeface="Inter"/>
              </a:rPr>
              <a:t>Trace the cause. Test the response.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62472" y="2404872"/>
            <a:ext cx="0" cy="3520440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2386584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5F"/>
                </a:solidFill>
                <a:latin typeface="Inter"/>
              </a:rPr>
              <a:t>FINANCIAL RISK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761488"/>
            <a:ext cx="5093208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31E1A"/>
                </a:solidFill>
                <a:latin typeface="Inter"/>
              </a:rPr>
              <a:t>Relationships,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31E1A"/>
                </a:solidFill>
                <a:latin typeface="Inter"/>
              </a:rPr>
              <a:t>not isolated 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04487"/>
            <a:ext cx="50292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645D"/>
                </a:solidFill>
                <a:latin typeface="Inter"/>
              </a:rPr>
              <a:t>Links transactions to downstream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645D"/>
                </a:solidFill>
                <a:latin typeface="Inter"/>
              </a:rPr>
              <a:t>financial consequences.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010912"/>
            <a:ext cx="1408176" cy="548640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175504"/>
            <a:ext cx="1408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1E1A"/>
                </a:solidFill>
                <a:latin typeface="Inter"/>
              </a:rPr>
              <a:t>Receivables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14016" y="5010912"/>
            <a:ext cx="1371600" cy="548640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016" y="51755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1E1A"/>
                </a:solidFill>
                <a:latin typeface="Inter"/>
              </a:rPr>
              <a:t>Cash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5010912"/>
            <a:ext cx="1408176" cy="548640"/>
          </a:xfrm>
          <a:prstGeom prst="rect">
            <a:avLst/>
          </a:prstGeom>
          <a:solidFill>
            <a:srgbClr val="FBFAF9"/>
          </a:solidFill>
          <a:ln w="8890">
            <a:solidFill>
              <a:srgbClr val="DD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5175504"/>
            <a:ext cx="1408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1E1A"/>
                </a:solidFill>
                <a:latin typeface="Inter"/>
              </a:rPr>
              <a:t>Payables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75688" y="5285232"/>
            <a:ext cx="274320" cy="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95144" y="5239512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295144" y="5285232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22191" y="5285232"/>
            <a:ext cx="283465" cy="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50792" y="5239512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050792" y="5285232"/>
            <a:ext cx="54864" cy="45720"/>
          </a:xfrm>
          <a:prstGeom prst="line">
            <a:avLst/>
          </a:prstGeom>
          <a:ln w="13970">
            <a:solidFill>
              <a:srgbClr val="6F645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73952" y="2386584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5F"/>
                </a:solidFill>
                <a:latin typeface="Inter"/>
              </a:rPr>
              <a:t>CRISIS SIMULATOR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761488"/>
            <a:ext cx="5093208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31E1A"/>
                </a:solidFill>
                <a:latin typeface="Inter"/>
              </a:rPr>
              <a:t>“What if revenue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31E1A"/>
                </a:solidFill>
                <a:latin typeface="Inter"/>
              </a:rPr>
              <a:t>drops 15%?”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3904487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645D"/>
                </a:solidFill>
                <a:latin typeface="Inter"/>
              </a:rPr>
              <a:t>Compare before committing.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599432"/>
            <a:ext cx="41148" cy="246888"/>
          </a:xfrm>
          <a:prstGeom prst="rect">
            <a:avLst/>
          </a:prstGeom>
          <a:solidFill>
            <a:srgbClr val="231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572000"/>
            <a:ext cx="4873752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1E1A"/>
                </a:solidFill>
                <a:latin typeface="Inter"/>
              </a:rPr>
              <a:t>Baseline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5020056"/>
            <a:ext cx="41148" cy="246888"/>
          </a:xfrm>
          <a:prstGeom prst="rect">
            <a:avLst/>
          </a:prstGeom>
          <a:solidFill>
            <a:srgbClr val="B17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992624"/>
            <a:ext cx="4873752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1751B"/>
                </a:solidFill>
                <a:latin typeface="Inter"/>
              </a:rPr>
              <a:t>Scenario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5440680"/>
            <a:ext cx="41148" cy="246888"/>
          </a:xfrm>
          <a:prstGeom prst="rect">
            <a:avLst/>
          </a:prstGeom>
          <a:solidFill>
            <a:srgbClr val="2E6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5413248"/>
            <a:ext cx="4873752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664C"/>
                </a:solidFill>
                <a:latin typeface="Inter"/>
              </a:rPr>
              <a:t>Scenario + recommended intervention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5925312"/>
            <a:ext cx="51114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F645D"/>
                </a:solidFill>
                <a:latin typeface="Inter"/>
              </a:rPr>
              <a:t>Deterministic comparison · hypothetical input, not a claimed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283464" cy="283464"/>
          </a:xfrm>
          <a:prstGeom prst="rect">
            <a:avLst/>
          </a:prstGeom>
          <a:solidFill>
            <a:srgbClr val="EF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01421"/>
            <a:ext cx="2834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1B19"/>
                </a:solidFill>
                <a:latin typeface="Inter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381304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FECE6"/>
                </a:solidFill>
                <a:latin typeface="Inter"/>
              </a:rPr>
              <a:t>FinSight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402336"/>
            <a:ext cx="0" cy="246888"/>
          </a:xfrm>
          <a:prstGeom prst="line">
            <a:avLst/>
          </a:prstGeom>
          <a:ln w="12700">
            <a:solidFill>
              <a:srgbClr val="3D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68880" y="4343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FECE6"/>
                </a:solidFill>
                <a:latin typeface="Inter"/>
              </a:rPr>
              <a:t>TRUST &amp; ARCHITECTURE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868680"/>
            <a:ext cx="11000232" cy="0"/>
          </a:xfrm>
          <a:prstGeom prst="line">
            <a:avLst/>
          </a:prstGeom>
          <a:ln w="12700">
            <a:solidFill>
              <a:srgbClr val="3D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12700">
            <a:solidFill>
              <a:srgbClr val="3D37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469380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FECE6"/>
                </a:solidFill>
                <a:latin typeface="Inter"/>
              </a:rPr>
              <a:t>Northstar Commerce · fictional demo · EnterPro is a stateful mock workflow adapter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45109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FECE6"/>
                </a:solidFill>
                <a:latin typeface="JetBrains Mono"/>
              </a:rPr>
              <a:t>05 /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30759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FECE6"/>
                </a:solidFill>
                <a:latin typeface="Inter"/>
              </a:rPr>
              <a:t>THE SAFETY PRINCIPLE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10512"/>
            <a:ext cx="110093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FECE6"/>
                </a:solidFill>
                <a:latin typeface="Inter"/>
              </a:rPr>
              <a:t>Deterministic calculations are the source of truth.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69464"/>
            <a:ext cx="10991088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EFECE6"/>
                </a:solidFill>
                <a:latin typeface="Inter"/>
              </a:rPr>
              <a:t>Qwen explains; it does not calculate the numbers.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822191"/>
            <a:ext cx="3374136" cy="1380744"/>
          </a:xfrm>
          <a:prstGeom prst="rect">
            <a:avLst/>
          </a:prstGeom>
          <a:solidFill>
            <a:srgbClr val="1F1B19"/>
          </a:solidFill>
          <a:ln w="8890">
            <a:solidFill>
              <a:srgbClr val="3D3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87368"/>
            <a:ext cx="291693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FECE6"/>
                </a:solidFill>
                <a:latin typeface="Inter"/>
              </a:rPr>
              <a:t>Domain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27448"/>
            <a:ext cx="2916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FECE6"/>
                </a:solidFill>
                <a:latin typeface="Inter"/>
              </a:rPr>
              <a:t>Calculations &amp; forecasts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41648" y="4517136"/>
            <a:ext cx="274320" cy="0"/>
          </a:xfrm>
          <a:prstGeom prst="line">
            <a:avLst/>
          </a:prstGeom>
          <a:ln w="13970">
            <a:solidFill>
              <a:srgbClr val="EF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61104" y="4471416"/>
            <a:ext cx="54864" cy="45720"/>
          </a:xfrm>
          <a:prstGeom prst="line">
            <a:avLst/>
          </a:prstGeom>
          <a:ln w="13970">
            <a:solidFill>
              <a:srgbClr val="EF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261104" y="4517136"/>
            <a:ext cx="54864" cy="45720"/>
          </a:xfrm>
          <a:prstGeom prst="line">
            <a:avLst/>
          </a:prstGeom>
          <a:ln w="13970">
            <a:solidFill>
              <a:srgbClr val="EF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398264" y="3822191"/>
            <a:ext cx="3374136" cy="1380744"/>
          </a:xfrm>
          <a:prstGeom prst="rect">
            <a:avLst/>
          </a:prstGeom>
          <a:solidFill>
            <a:srgbClr val="1F1B19"/>
          </a:solidFill>
          <a:ln w="8890">
            <a:solidFill>
              <a:srgbClr val="3D3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4087368"/>
            <a:ext cx="291693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FECE6"/>
                </a:solidFill>
                <a:latin typeface="Inter"/>
              </a:rPr>
              <a:t>Qwen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4727448"/>
            <a:ext cx="2916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FECE6"/>
                </a:solidFill>
                <a:latin typeface="Inter"/>
              </a:rPr>
              <a:t>Evidence-based explanation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45552" y="4517136"/>
            <a:ext cx="274320" cy="0"/>
          </a:xfrm>
          <a:prstGeom prst="line">
            <a:avLst/>
          </a:prstGeom>
          <a:ln w="13970">
            <a:solidFill>
              <a:srgbClr val="EF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65008" y="4471416"/>
            <a:ext cx="54864" cy="45720"/>
          </a:xfrm>
          <a:prstGeom prst="line">
            <a:avLst/>
          </a:prstGeom>
          <a:ln w="13970">
            <a:solidFill>
              <a:srgbClr val="EF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065008" y="4517136"/>
            <a:ext cx="54864" cy="45720"/>
          </a:xfrm>
          <a:prstGeom prst="line">
            <a:avLst/>
          </a:prstGeom>
          <a:ln w="13970">
            <a:solidFill>
              <a:srgbClr val="EFEC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02168" y="3822191"/>
            <a:ext cx="3374136" cy="1380744"/>
          </a:xfrm>
          <a:prstGeom prst="rect">
            <a:avLst/>
          </a:prstGeom>
          <a:solidFill>
            <a:srgbClr val="1F1B19"/>
          </a:solidFill>
          <a:ln w="8890">
            <a:solidFill>
              <a:srgbClr val="3D3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4087368"/>
            <a:ext cx="2916936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FECE6"/>
                </a:solidFill>
                <a:latin typeface="Inter"/>
              </a:rPr>
              <a:t>EnterPro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727448"/>
            <a:ext cx="291693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FECE6"/>
                </a:solidFill>
                <a:latin typeface="Inter"/>
              </a:rPr>
              <a:t>Workflow → approval →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687568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FECE6"/>
                </a:solidFill>
                <a:latin typeface="Inter"/>
              </a:rPr>
              <a:t>Supplied metrics and evidence guide the narrative; financial outputs remain deterministic.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4048"/>
            <a:ext cx="283464" cy="283464"/>
          </a:xfrm>
          <a:prstGeom prst="rect">
            <a:avLst/>
          </a:prstGeom>
          <a:solidFill>
            <a:srgbClr val="231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01421"/>
            <a:ext cx="2834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6F2"/>
                </a:solidFill>
                <a:latin typeface="Inter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381304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1E1A"/>
                </a:solidFill>
                <a:latin typeface="Inter"/>
              </a:rPr>
              <a:t>FinSight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402336"/>
            <a:ext cx="0" cy="246888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68880" y="4343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645D"/>
                </a:solidFill>
                <a:latin typeface="Inter"/>
              </a:rPr>
              <a:t>IMPACT &amp; CLOSE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868680"/>
            <a:ext cx="11000232" cy="0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469380"/>
            <a:ext cx="1005840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F645D"/>
                </a:solidFill>
                <a:latin typeface="Inter"/>
              </a:rPr>
              <a:t>Northstar Commerce · fictional seeded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7352" y="645109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645D"/>
                </a:solidFill>
                <a:latin typeface="JetBrains Mono"/>
              </a:rPr>
              <a:t>06 /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30759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5F"/>
                </a:solidFill>
                <a:latin typeface="Inter"/>
              </a:rPr>
              <a:t>IDENTIFY THE OPPORTUNITY. SURFACE THE RISK 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1911095"/>
            <a:ext cx="6693408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200" b="1">
                <a:solidFill>
                  <a:srgbClr val="2E664C"/>
                </a:solidFill>
                <a:latin typeface="Inter"/>
              </a:rPr>
              <a:t>₹38.4L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456432"/>
            <a:ext cx="6537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1E1A"/>
                </a:solidFill>
                <a:latin typeface="Inter"/>
              </a:rPr>
              <a:t>recoverable annualised leakage identified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51775" y="2093976"/>
            <a:ext cx="0" cy="1993392"/>
          </a:xfrm>
          <a:prstGeom prst="line">
            <a:avLst/>
          </a:prstGeom>
          <a:ln w="12700">
            <a:solidFill>
              <a:srgbClr val="DDDA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54112" y="2167128"/>
            <a:ext cx="2249424" cy="978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900" b="1">
                <a:solidFill>
                  <a:srgbClr val="231E1A"/>
                </a:solidFill>
                <a:latin typeface="Inter"/>
              </a:rPr>
              <a:t>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670048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31E1A"/>
                </a:solidFill>
                <a:latin typeface="Inter"/>
              </a:rP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3401568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645D"/>
                </a:solidFill>
                <a:latin typeface="Inter"/>
              </a:rPr>
              <a:t>before a projected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645D"/>
                </a:solidFill>
                <a:latin typeface="Inter"/>
              </a:rPr>
              <a:t>cash-threshold breach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498848"/>
            <a:ext cx="1097280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645D"/>
                </a:solidFill>
                <a:latin typeface="Inter"/>
              </a:rPr>
              <a:t>AI-flagged risk → EnterPro workflow → approval →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202936"/>
            <a:ext cx="10972800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1E1A"/>
                </a:solidFill>
                <a:latin typeface="Inter"/>
              </a:rPr>
              <a:t>FinSight doesn’t just report financial problems 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31E1A"/>
                </a:solidFill>
                <a:latin typeface="Inter"/>
              </a:rPr>
              <a:t>it finds them before they’re expensive, and helps the team 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FinSight — Early Warning to Intervention</dc:title>
  <dc:subject>Northstar Commerce — fictional seeded financial demo</dc:subject>
  <dc:creator>FinSight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